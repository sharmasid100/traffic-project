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8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Automated Traffic Violation Detection and Identification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</a:t>
            </a:r>
          </a:p>
          <a:p>
            <a:r>
              <a:t>• S Sidharth Sharma – Team Lead</a:t>
            </a:r>
          </a:p>
          <a:p>
            <a:r>
              <a:t>• Disha Dubey – Team Member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6546B3-91EA-13ED-ABA6-261618F45371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EAC86E-B977-9E57-9017-977C909A12DE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141763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Manual inspection of traffic images is time-consuming</a:t>
            </a:r>
          </a:p>
          <a:p>
            <a:pPr marL="0" indent="0">
              <a:buNone/>
            </a:pPr>
            <a:r>
              <a:rPr dirty="0"/>
              <a:t>• Large-scale surveillance generates huge image volumes</a:t>
            </a:r>
          </a:p>
          <a:p>
            <a:pPr marL="0" indent="0">
              <a:buNone/>
            </a:pPr>
            <a:r>
              <a:rPr dirty="0"/>
              <a:t>• Need automated violation detection and documentation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172347-0A9A-CE4C-3578-6C253BCC24EF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83BA9E-1417-D677-48BA-081292AF3DB4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1" y="161925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AI-powered traffic image analysis</a:t>
            </a:r>
          </a:p>
          <a:p>
            <a:pPr marL="0" indent="0">
              <a:buNone/>
            </a:pPr>
            <a:r>
              <a:rPr dirty="0"/>
              <a:t>• Vehicle &amp; road user detection</a:t>
            </a:r>
          </a:p>
          <a:p>
            <a:pPr marL="0" indent="0">
              <a:buNone/>
            </a:pPr>
            <a:r>
              <a:rPr dirty="0"/>
              <a:t>• Violation detection</a:t>
            </a:r>
          </a:p>
          <a:p>
            <a:pPr marL="0" indent="0">
              <a:buNone/>
            </a:pPr>
            <a:r>
              <a:rPr dirty="0"/>
              <a:t>• License plate recognition</a:t>
            </a:r>
          </a:p>
          <a:p>
            <a:pPr marL="0" indent="0">
              <a:buNone/>
            </a:pPr>
            <a:r>
              <a:rPr dirty="0"/>
              <a:t>• Evidence generation &amp; reporting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81C04D-8086-2824-2E35-BDCED4D37798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897E58-2498-09A3-97CE-C0F48B41E8D7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7EB5E03-27DF-89DD-9BDA-94238F72F383}"/>
              </a:ext>
            </a:extLst>
          </p:cNvPr>
          <p:cNvSpPr/>
          <p:nvPr/>
        </p:nvSpPr>
        <p:spPr>
          <a:xfrm>
            <a:off x="685799" y="1285874"/>
            <a:ext cx="8124825" cy="281939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7F8CD-C333-F2D5-7689-5D004BB71318}"/>
              </a:ext>
            </a:extLst>
          </p:cNvPr>
          <p:cNvSpPr/>
          <p:nvPr/>
        </p:nvSpPr>
        <p:spPr>
          <a:xfrm>
            <a:off x="819150" y="1600200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Traffic Image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01FA0C-D422-15D5-2B76-99BBE798EB42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3C63E2-E6F7-C08C-AF21-73CD04CD1817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F59E64C-2D99-F86E-4218-989FB5D5B4AA}"/>
              </a:ext>
            </a:extLst>
          </p:cNvPr>
          <p:cNvSpPr/>
          <p:nvPr/>
        </p:nvSpPr>
        <p:spPr>
          <a:xfrm>
            <a:off x="3543300" y="1600199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2FEA4-72FB-622C-A809-12E1BDE6892F}"/>
              </a:ext>
            </a:extLst>
          </p:cNvPr>
          <p:cNvSpPr/>
          <p:nvPr/>
        </p:nvSpPr>
        <p:spPr>
          <a:xfrm>
            <a:off x="6267450" y="1600200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Detection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F371AC-1257-F84E-C7E4-BF37B4E9F802}"/>
              </a:ext>
            </a:extLst>
          </p:cNvPr>
          <p:cNvSpPr/>
          <p:nvPr/>
        </p:nvSpPr>
        <p:spPr>
          <a:xfrm>
            <a:off x="819150" y="3148013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Violation Engine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4AA171-7828-DC17-400C-3F44071AE6D7}"/>
              </a:ext>
            </a:extLst>
          </p:cNvPr>
          <p:cNvSpPr/>
          <p:nvPr/>
        </p:nvSpPr>
        <p:spPr>
          <a:xfrm>
            <a:off x="3543300" y="3148012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ANPR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3858EC-7DCE-83C4-FF97-B628F2D272BB}"/>
              </a:ext>
            </a:extLst>
          </p:cNvPr>
          <p:cNvSpPr/>
          <p:nvPr/>
        </p:nvSpPr>
        <p:spPr>
          <a:xfrm>
            <a:off x="6267450" y="3148013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7EADEF-A35C-A7DA-FDF6-7DAE4A725EC3}"/>
              </a:ext>
            </a:extLst>
          </p:cNvPr>
          <p:cNvSpPr/>
          <p:nvPr/>
        </p:nvSpPr>
        <p:spPr>
          <a:xfrm>
            <a:off x="3638549" y="5257801"/>
            <a:ext cx="2286000" cy="5619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Dashboard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4E95A6A-5FB0-F38A-00E0-7A4658B43F4F}"/>
              </a:ext>
            </a:extLst>
          </p:cNvPr>
          <p:cNvSpPr/>
          <p:nvPr/>
        </p:nvSpPr>
        <p:spPr>
          <a:xfrm>
            <a:off x="3114675" y="1785936"/>
            <a:ext cx="438150" cy="16668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27AE397-9A3B-28B1-AA28-EBA50D3E93E5}"/>
              </a:ext>
            </a:extLst>
          </p:cNvPr>
          <p:cNvSpPr/>
          <p:nvPr/>
        </p:nvSpPr>
        <p:spPr>
          <a:xfrm>
            <a:off x="5829300" y="1797842"/>
            <a:ext cx="438150" cy="16668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54A2D75-1E64-ADEA-2069-BFE341E13307}"/>
              </a:ext>
            </a:extLst>
          </p:cNvPr>
          <p:cNvSpPr/>
          <p:nvPr/>
        </p:nvSpPr>
        <p:spPr>
          <a:xfrm>
            <a:off x="5848350" y="3361133"/>
            <a:ext cx="438150" cy="16668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2526689-6015-5E47-FE37-91BFE09A9961}"/>
              </a:ext>
            </a:extLst>
          </p:cNvPr>
          <p:cNvSpPr/>
          <p:nvPr/>
        </p:nvSpPr>
        <p:spPr>
          <a:xfrm>
            <a:off x="3114675" y="3361133"/>
            <a:ext cx="438150" cy="16668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FEC406-29C0-D667-A310-4E3431CF2B64}"/>
              </a:ext>
            </a:extLst>
          </p:cNvPr>
          <p:cNvSpPr/>
          <p:nvPr/>
        </p:nvSpPr>
        <p:spPr>
          <a:xfrm>
            <a:off x="7517126" y="2162174"/>
            <a:ext cx="72000" cy="684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11836AB5-A214-43CC-933A-D037EF2D5720}"/>
              </a:ext>
            </a:extLst>
          </p:cNvPr>
          <p:cNvSpPr/>
          <p:nvPr/>
        </p:nvSpPr>
        <p:spPr>
          <a:xfrm rot="10800000">
            <a:off x="1981199" y="2788011"/>
            <a:ext cx="5600700" cy="360000"/>
          </a:xfrm>
          <a:prstGeom prst="bentUpArrow">
            <a:avLst>
              <a:gd name="adj1" fmla="val 17199"/>
              <a:gd name="adj2" fmla="val 25000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EFA2E817-F57B-B211-6EE8-61510DCC8571}"/>
              </a:ext>
            </a:extLst>
          </p:cNvPr>
          <p:cNvSpPr/>
          <p:nvPr/>
        </p:nvSpPr>
        <p:spPr>
          <a:xfrm>
            <a:off x="4610100" y="4190999"/>
            <a:ext cx="342897" cy="99060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Prototype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1" y="15716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Implemented:</a:t>
            </a:r>
          </a:p>
          <a:p>
            <a:pPr marL="0" indent="0">
              <a:buNone/>
            </a:pPr>
            <a:r>
              <a:rPr dirty="0"/>
              <a:t>• Vehicle Detection</a:t>
            </a:r>
          </a:p>
          <a:p>
            <a:pPr marL="0" indent="0">
              <a:buNone/>
            </a:pPr>
            <a:r>
              <a:rPr dirty="0"/>
              <a:t>• Helmet Detection</a:t>
            </a:r>
          </a:p>
          <a:p>
            <a:pPr marL="0" indent="0">
              <a:buNone/>
            </a:pPr>
            <a:r>
              <a:rPr dirty="0"/>
              <a:t>• Triple Riding Detection</a:t>
            </a:r>
          </a:p>
          <a:p>
            <a:pPr marL="0" indent="0">
              <a:buNone/>
            </a:pPr>
            <a:r>
              <a:rPr dirty="0"/>
              <a:t>• License Plate Recognition</a:t>
            </a:r>
          </a:p>
          <a:p>
            <a:pPr marL="0" indent="0">
              <a:buNone/>
            </a:pPr>
            <a:r>
              <a:rPr dirty="0"/>
              <a:t>• Evidence Generation</a:t>
            </a:r>
          </a:p>
          <a:p>
            <a:pPr marL="0" indent="0">
              <a:buNone/>
            </a:pPr>
            <a:r>
              <a:rPr dirty="0"/>
              <a:t>• Dashboard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AE333B-D7C2-9261-3BB1-6E3A86BB7842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431695-F419-8EC4-AB71-0406824F0198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25"/>
            <a:ext cx="8229600" cy="1143000"/>
          </a:xfrm>
        </p:spPr>
        <p:txBody>
          <a:bodyPr/>
          <a:lstStyle/>
          <a:p>
            <a:r>
              <a:rPr b="1" u="sng" dirty="0"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1" y="1600200"/>
            <a:ext cx="8229600" cy="4525963"/>
          </a:xfrm>
        </p:spPr>
        <p:txBody>
          <a:bodyPr/>
          <a:lstStyle/>
          <a:p>
            <a:r>
              <a:rPr dirty="0"/>
              <a:t>YOLOv8</a:t>
            </a:r>
          </a:p>
          <a:p>
            <a:r>
              <a:rPr dirty="0"/>
              <a:t>OpenCV</a:t>
            </a:r>
          </a:p>
          <a:p>
            <a:r>
              <a:rPr dirty="0"/>
              <a:t>EasyOCR</a:t>
            </a:r>
          </a:p>
          <a:p>
            <a:r>
              <a:rPr dirty="0"/>
              <a:t>Flask</a:t>
            </a:r>
          </a:p>
          <a:p>
            <a:r>
              <a:rPr dirty="0"/>
              <a:t>Python</a:t>
            </a:r>
          </a:p>
          <a:p>
            <a:r>
              <a:rPr dirty="0" err="1"/>
              <a:t>JupyterLab</a:t>
            </a:r>
            <a:endParaRPr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AE4DCA-C741-2C7B-6B90-5300C7CC56C7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07ACAD-8946-35BF-1FE9-2C3040518506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8229600" cy="4525963"/>
          </a:xfrm>
        </p:spPr>
        <p:txBody>
          <a:bodyPr/>
          <a:lstStyle/>
          <a:p>
            <a:r>
              <a:rPr dirty="0"/>
              <a:t>Vehicle: mAP50 0.562</a:t>
            </a:r>
          </a:p>
          <a:p>
            <a:r>
              <a:rPr dirty="0"/>
              <a:t>Helmet: mAP50 0.788</a:t>
            </a:r>
          </a:p>
          <a:p>
            <a:r>
              <a:rPr dirty="0"/>
              <a:t>Triple Riding: mAP50 0.953</a:t>
            </a:r>
          </a:p>
          <a:p>
            <a:r>
              <a:rPr dirty="0"/>
              <a:t>License Plate: mAP50 0.903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BD0BB1-5704-8602-00AE-A1E8EDD10078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F042D5-ED74-6167-127F-610AEA717440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Prototype 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653F79-D8E0-1464-7103-D657080EB237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07E5CA-1093-0C21-C198-9BBF8993740C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DED8E81-5F54-6F03-3F9E-6592E12DB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323973"/>
            <a:ext cx="3717000" cy="212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4910CC-F707-765C-4129-8DA78DE5BE3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115450" y="1323974"/>
            <a:ext cx="3438000" cy="2124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3E3B05-78E5-01D0-5317-9C426B79009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9674" y="4038600"/>
            <a:ext cx="3438000" cy="2124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175517-30E1-CC8E-8478-BB2FF5FA9BE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115450" y="4090950"/>
            <a:ext cx="3438000" cy="2124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58A995E-F5F7-6F31-C70B-990F5F9BD51F}"/>
              </a:ext>
            </a:extLst>
          </p:cNvPr>
          <p:cNvSpPr txBox="1"/>
          <p:nvPr/>
        </p:nvSpPr>
        <p:spPr>
          <a:xfrm>
            <a:off x="819150" y="3429000"/>
            <a:ext cx="343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Helmet detection output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B2956-EA4B-FD0D-BC82-3CD83F2044AD}"/>
              </a:ext>
            </a:extLst>
          </p:cNvPr>
          <p:cNvSpPr txBox="1"/>
          <p:nvPr/>
        </p:nvSpPr>
        <p:spPr>
          <a:xfrm>
            <a:off x="5115450" y="3447974"/>
            <a:ext cx="343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Plate detection output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02083-1704-A8DC-6F9F-D43E7084B246}"/>
              </a:ext>
            </a:extLst>
          </p:cNvPr>
          <p:cNvSpPr txBox="1"/>
          <p:nvPr/>
        </p:nvSpPr>
        <p:spPr>
          <a:xfrm>
            <a:off x="819674" y="6162600"/>
            <a:ext cx="343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Triple detection 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604DD-DD2B-5848-DE94-5D2101AEAD97}"/>
              </a:ext>
            </a:extLst>
          </p:cNvPr>
          <p:cNvSpPr txBox="1"/>
          <p:nvPr/>
        </p:nvSpPr>
        <p:spPr>
          <a:xfrm>
            <a:off x="5115974" y="6181574"/>
            <a:ext cx="343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Vehicle detection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3DA9E-A228-222C-291A-900745CA8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FBA7-7D2C-4FF4-A7D2-38CD210A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Prototype 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6CD810-1D4C-08E5-AD52-6D0730C91571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692D69-1E7D-A829-975B-7C6C45213330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66310A7-49DA-FF80-6213-AB4F5BB4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371600"/>
            <a:ext cx="7677150" cy="42228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B4DD24-FB4F-4198-C501-2C989427B37F}"/>
              </a:ext>
            </a:extLst>
          </p:cNvPr>
          <p:cNvSpPr txBox="1"/>
          <p:nvPr/>
        </p:nvSpPr>
        <p:spPr>
          <a:xfrm>
            <a:off x="1019175" y="5594433"/>
            <a:ext cx="383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Dashboard 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01177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1" y="142716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All vehicle categories</a:t>
            </a:r>
          </a:p>
          <a:p>
            <a:pPr marL="0" indent="0">
              <a:buNone/>
            </a:pPr>
            <a:r>
              <a:rPr dirty="0"/>
              <a:t>• Seatbelt detection</a:t>
            </a:r>
          </a:p>
          <a:p>
            <a:pPr marL="0" indent="0">
              <a:buNone/>
            </a:pPr>
            <a:r>
              <a:rPr dirty="0"/>
              <a:t>• Red-light violation</a:t>
            </a:r>
          </a:p>
          <a:p>
            <a:pPr marL="0" indent="0">
              <a:buNone/>
            </a:pPr>
            <a:r>
              <a:rPr dirty="0"/>
              <a:t>• Wrong-side driving</a:t>
            </a:r>
          </a:p>
          <a:p>
            <a:pPr marL="0" indent="0">
              <a:buNone/>
            </a:pPr>
            <a:r>
              <a:rPr lang="en-IN" dirty="0"/>
              <a:t>• Illegal parking</a:t>
            </a:r>
          </a:p>
          <a:p>
            <a:pPr marL="0" indent="0">
              <a:buNone/>
            </a:pPr>
            <a:r>
              <a:rPr dirty="0"/>
              <a:t>• Grievance portal</a:t>
            </a:r>
          </a:p>
          <a:p>
            <a:pPr marL="0" indent="0">
              <a:buNone/>
            </a:pPr>
            <a:r>
              <a:rPr dirty="0"/>
              <a:t>• Automated challans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00B8BA-1265-724A-9109-86E1E616A0BF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78CFF-4B8B-176B-ACBB-358B4B4AD367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600200"/>
            <a:ext cx="8229600" cy="4525963"/>
          </a:xfrm>
        </p:spPr>
        <p:txBody>
          <a:bodyPr/>
          <a:lstStyle/>
          <a:p>
            <a:r>
              <a:rPr dirty="0"/>
              <a:t>Working proof-of-concept developed with promising results.</a:t>
            </a:r>
          </a:p>
          <a:p>
            <a:r>
              <a:rPr dirty="0"/>
              <a:t>Scalable architecture for smart traffic enforcement.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1E8E40-4A2D-01A8-90EC-5C4494E3ADF2}"/>
              </a:ext>
            </a:extLst>
          </p:cNvPr>
          <p:cNvCxnSpPr/>
          <p:nvPr/>
        </p:nvCxnSpPr>
        <p:spPr>
          <a:xfrm>
            <a:off x="59055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435F58-9F2E-7C4B-3F1F-4319E21A6EEC}"/>
              </a:ext>
            </a:extLst>
          </p:cNvPr>
          <p:cNvCxnSpPr/>
          <p:nvPr/>
        </p:nvCxnSpPr>
        <p:spPr>
          <a:xfrm>
            <a:off x="0" y="428625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189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Cascadia Mono SemiBold</vt:lpstr>
      <vt:lpstr>Office Theme</vt:lpstr>
      <vt:lpstr>Automated Traffic Violation Detection and Identification System</vt:lpstr>
      <vt:lpstr>Problem Statement</vt:lpstr>
      <vt:lpstr>Proposed Solution</vt:lpstr>
      <vt:lpstr>System Architecture</vt:lpstr>
      <vt:lpstr>Prototype Implementation</vt:lpstr>
      <vt:lpstr>Technology Stack</vt:lpstr>
      <vt:lpstr>Experimental Results</vt:lpstr>
      <vt:lpstr>Prototype Validation</vt:lpstr>
      <vt:lpstr>Prototype Validation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 Sidharth Sharma</cp:lastModifiedBy>
  <cp:revision>2</cp:revision>
  <dcterms:created xsi:type="dcterms:W3CDTF">2013-01-27T09:14:16Z</dcterms:created>
  <dcterms:modified xsi:type="dcterms:W3CDTF">2026-06-21T11:41:17Z</dcterms:modified>
  <cp:category/>
</cp:coreProperties>
</file>